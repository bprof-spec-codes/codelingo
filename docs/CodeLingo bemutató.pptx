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61" r:id="rId6"/>
    <p:sldId id="262" r:id="rId7"/>
    <p:sldId id="273" r:id="rId8"/>
    <p:sldId id="265" r:id="rId9"/>
    <p:sldId id="263" r:id="rId10"/>
    <p:sldId id="264" r:id="rId11"/>
    <p:sldId id="267" r:id="rId12"/>
    <p:sldId id="268" r:id="rId13"/>
    <p:sldId id="269" r:id="rId14"/>
    <p:sldId id="270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E243"/>
    <a:srgbClr val="F8F9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512B3-D77E-06A7-0018-28FBC97883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4B8655-5368-77F5-84EB-A8B5E833C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39935-D330-C96F-BD02-7165EB721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BF8C-BBA2-40DC-AFFC-39184250D22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628E4-08FB-538C-30B0-111B7D1D6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F7CE3-F97D-7FFC-BF1E-F08E8AE6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8D389-D81D-41DF-8E3C-2677086FF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126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5EA16-338C-13E5-0368-832644AB8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7FFF8-6F26-457B-C78B-9690895F8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AACB6-762A-0E6D-8B2A-B4F0297B3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BF8C-BBA2-40DC-AFFC-39184250D22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52ACC-CE16-3385-D8AE-3E5050399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C5D1E-31E4-0B2D-2364-832E60FC3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8D389-D81D-41DF-8E3C-2677086FF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FFBC8-DE1A-A9FB-8131-DB0E99F9E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E8CC3D-81FF-3C08-FA7D-866C039E0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38F8F-209A-CE17-A8DA-0DFF45EF8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BF8C-BBA2-40DC-AFFC-39184250D22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F2D2C-53E5-5A52-3398-5C18B7497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28DC9-A3A0-A813-1FB2-C6084A92C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8D389-D81D-41DF-8E3C-2677086FF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788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24BAA-5633-B10E-67F9-A9B614002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69325-96B8-75F5-508B-7D6D010A3E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11BC7C-0F4D-C20E-9F3D-E453E7FC99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22A137-9A96-E60E-4068-A0A521868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BF8C-BBA2-40DC-AFFC-39184250D22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14348D-BA85-3C72-1B7B-12F5BEB60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D26053-1E7C-C0D1-3AEC-9F5E07189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8D389-D81D-41DF-8E3C-2677086FF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648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2130E-0922-42FE-7401-1E9A35295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6CA6EB-CB14-1768-9B54-62C72D2C9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4DF848-A9FC-8912-52C8-596456AD17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1FCED2-A7FF-9538-6650-927DB6C484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4D9F1E-1925-D8A9-E69A-1132CEB5F2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D8B407-AAFC-E7E9-AEDC-71A673838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BF8C-BBA2-40DC-AFFC-39184250D22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8709AB-C0E6-C5A4-85C6-6A174B345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D3B046-2561-5DED-9432-6E80E5959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8D389-D81D-41DF-8E3C-2677086FF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259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8C626-8B1C-ECE3-0A29-BAC23EA43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2DB336-3CDB-FDC7-20D5-35372F201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BF8C-BBA2-40DC-AFFC-39184250D22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05FAF6-2314-33EA-068D-1A0E93816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101ABC-DA8C-19FB-7A8F-2ACBA04B3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8D389-D81D-41DF-8E3C-2677086FF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317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690E7D-5CE4-DAC2-ABD7-D77645B6E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BF8C-BBA2-40DC-AFFC-39184250D22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DBFC66-13FF-B394-4B27-B90FFAFBE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21E5BF-1049-17FF-6ACB-38F48C664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8D389-D81D-41DF-8E3C-2677086FF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759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58E00-347D-3C65-0D59-015F41B55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43A2B-82F3-4F0A-D409-3A1FE6A0C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356A88-DEA1-EAD1-A5BD-90421F0195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A0AAE4-C6CE-141B-CD3D-45CA91AB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BF8C-BBA2-40DC-AFFC-39184250D22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C8407D-1F2E-488A-F23A-7669F67F6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B19E7-7288-8AF6-D4CF-2F13C2D00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8D389-D81D-41DF-8E3C-2677086FF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830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22CEA-8758-4057-F185-610EA96CC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059A45-34E4-4DA4-4920-BCE4C0206A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BF5F6F-CEFD-E253-AF94-24CB3B85A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8F963B-7A6A-B82E-6DD3-269FB7074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BF8C-BBA2-40DC-AFFC-39184250D22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2855C9-F932-BCC1-489D-A5F8EE9EF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ED5263-47F8-30D8-BA1D-7D7459D5F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8D389-D81D-41DF-8E3C-2677086FF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538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5DFDB-210E-BA80-101C-5546BB1B3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E9607D-6474-663E-9A50-173DC0023C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4990E-3416-53D7-5459-9B1DFB3B5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BF8C-BBA2-40DC-AFFC-39184250D22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AEDC1-1DA3-1EDA-8E86-620546DC9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792FF-96E1-C424-0F41-DCD4F4C34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8D389-D81D-41DF-8E3C-2677086FF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990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C1C280-FE1A-FD09-1D8C-85E764593A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854937-4BB8-7570-4CA8-13524E856C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8CB34-4C1A-2906-F82C-D45803455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BF8C-BBA2-40DC-AFFC-39184250D22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F5BE7-056E-022D-829C-AD73AA7BC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4CC6A-CEEC-D7A8-F559-DF0E2AA94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8D389-D81D-41DF-8E3C-2677086FF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955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D7F3F0-20C1-5E67-CF36-0460DA4B8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73B319-96C6-229B-6200-7627BA6DF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CF187-F378-3956-98C3-1447579A88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9FBF8C-BBA2-40DC-AFFC-39184250D22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A5399-F023-651F-10FB-CD442B3F1E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38EBD-036E-2637-C2AC-6F322A646F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A8D389-D81D-41DF-8E3C-2677086FF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532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>
            <a:extLst>
              <a:ext uri="{FF2B5EF4-FFF2-40B4-BE49-F238E27FC236}">
                <a16:creationId xmlns:a16="http://schemas.microsoft.com/office/drawing/2014/main" id="{01F008D7-70A3-F161-16D2-6185EE2403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81078"/>
            <a:ext cx="9144000" cy="1655762"/>
          </a:xfrm>
        </p:spPr>
        <p:txBody>
          <a:bodyPr/>
          <a:lstStyle/>
          <a:p>
            <a:r>
              <a:rPr lang="hu-HU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Made by Teamlingo</a:t>
            </a:r>
            <a:endParaRPr lang="en-US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376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53AAC-4BCE-72CC-E607-62DB1E8D3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547" y="1825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8F9F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 a </a:t>
            </a:r>
            <a:r>
              <a:rPr lang="en-US" b="1" dirty="0" err="1">
                <a:solidFill>
                  <a:srgbClr val="F8F9F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CodeLingo</a:t>
            </a:r>
            <a:r>
              <a:rPr lang="en-US" b="1" dirty="0">
                <a:solidFill>
                  <a:srgbClr val="F8F9F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?</a:t>
            </a:r>
            <a:endParaRPr lang="en-US" dirty="0">
              <a:solidFill>
                <a:srgbClr val="F8F9F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59B71-33F1-8897-7330-E6134B2F6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z="3200" dirty="0">
                <a:latin typeface="Poppins" panose="00000500000000000000" pitchFamily="2" charset="0"/>
                <a:cs typeface="Poppins" panose="00000500000000000000" pitchFamily="2" charset="0"/>
              </a:rPr>
              <a:t>Programozási kérdéseket szolgáltat gyakorláshoz</a:t>
            </a:r>
          </a:p>
          <a:p>
            <a:r>
              <a:rPr lang="hu-HU" sz="3200" dirty="0">
                <a:latin typeface="Poppins" panose="00000500000000000000" pitchFamily="2" charset="0"/>
                <a:cs typeface="Poppins" panose="00000500000000000000" pitchFamily="2" charset="0"/>
              </a:rPr>
              <a:t>Azonnali visszajelzés a válaszokra</a:t>
            </a:r>
          </a:p>
          <a:p>
            <a:r>
              <a:rPr lang="hu-HU" sz="3200" dirty="0">
                <a:latin typeface="Poppins" panose="00000500000000000000" pitchFamily="2" charset="0"/>
                <a:cs typeface="Poppins" panose="00000500000000000000" pitchFamily="2" charset="0"/>
              </a:rPr>
              <a:t>Pontgyűjtés és szintlépés</a:t>
            </a:r>
          </a:p>
          <a:p>
            <a:r>
              <a:rPr lang="hu-HU" sz="3200" dirty="0">
                <a:latin typeface="Poppins" panose="00000500000000000000" pitchFamily="2" charset="0"/>
                <a:cs typeface="Poppins" panose="00000500000000000000" pitchFamily="2" charset="0"/>
              </a:rPr>
              <a:t>Több programozási nyelv támogatása (C#, JavaScript, Python)</a:t>
            </a:r>
          </a:p>
          <a:p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344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BBFD2-7BAC-0C7A-FED6-6982F8AA1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773" y="18255"/>
            <a:ext cx="10515600" cy="1325563"/>
          </a:xfrm>
        </p:spPr>
        <p:txBody>
          <a:bodyPr/>
          <a:lstStyle/>
          <a:p>
            <a:r>
              <a:rPr lang="en-US" b="1" dirty="0" err="1">
                <a:solidFill>
                  <a:srgbClr val="F8F9F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Elkészült</a:t>
            </a:r>
            <a:r>
              <a:rPr lang="en-US" b="1" dirty="0">
                <a:solidFill>
                  <a:srgbClr val="F8F9F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solidFill>
                  <a:srgbClr val="F8F9F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funkciók</a:t>
            </a:r>
            <a:endParaRPr lang="en-US" dirty="0">
              <a:solidFill>
                <a:srgbClr val="F8F9F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03D48-9343-1C40-35A1-F80707570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Landing page</a:t>
            </a:r>
            <a:endParaRPr lang="hu-HU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Regisztráció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és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bejelentkezés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Practice session </a:t>
            </a:r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indítása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Kérdések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lekérése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és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megjelenítése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Session </a:t>
            </a:r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befejezés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hu-HU" dirty="0">
                <a:latin typeface="Poppins" panose="00000500000000000000" pitchFamily="2" charset="0"/>
                <a:cs typeface="Poppins" panose="00000500000000000000" pitchFamily="2" charset="0"/>
              </a:rPr>
              <a:t>és eredmény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Admin </a:t>
            </a:r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felüle</a:t>
            </a:r>
            <a:r>
              <a:rPr lang="hu-HU" dirty="0">
                <a:latin typeface="Poppins" panose="00000500000000000000" pitchFamily="2" charset="0"/>
                <a:cs typeface="Poppins" panose="00000500000000000000" pitchFamily="2" charset="0"/>
              </a:rPr>
              <a:t>t</a:t>
            </a:r>
          </a:p>
          <a:p>
            <a:r>
              <a:rPr lang="hu-HU" dirty="0">
                <a:latin typeface="Poppins" panose="00000500000000000000" pitchFamily="2" charset="0"/>
                <a:cs typeface="Poppins" panose="00000500000000000000" pitchFamily="2" charset="0"/>
              </a:rPr>
              <a:t>Felhasználó oldal</a:t>
            </a:r>
          </a:p>
          <a:p>
            <a:r>
              <a:rPr lang="hu-HU" dirty="0">
                <a:latin typeface="Poppins" panose="00000500000000000000" pitchFamily="2" charset="0"/>
                <a:cs typeface="Poppins" panose="00000500000000000000" pitchFamily="2" charset="0"/>
              </a:rPr>
              <a:t>Hosting</a:t>
            </a:r>
          </a:p>
          <a:p>
            <a:r>
              <a:rPr lang="hu-HU" dirty="0">
                <a:latin typeface="Poppins" panose="00000500000000000000" pitchFamily="2" charset="0"/>
                <a:cs typeface="Poppins" panose="00000500000000000000" pitchFamily="2" charset="0"/>
              </a:rPr>
              <a:t>Leaderboard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buNone/>
            </a:pP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834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D5646-FCE7-C5F6-21B0-09996D03A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319" y="2032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8F9F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Nem </a:t>
            </a:r>
            <a:r>
              <a:rPr lang="en-US" b="1" dirty="0" err="1">
                <a:solidFill>
                  <a:srgbClr val="F8F9F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készült</a:t>
            </a:r>
            <a:r>
              <a:rPr lang="en-US" b="1" dirty="0">
                <a:solidFill>
                  <a:srgbClr val="F8F9F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solidFill>
                  <a:srgbClr val="F8F9F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</a:t>
            </a:r>
            <a:r>
              <a:rPr lang="hu-HU" b="1" dirty="0">
                <a:solidFill>
                  <a:srgbClr val="F8F9F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és eltérések</a:t>
            </a:r>
            <a:endParaRPr lang="en-US" dirty="0">
              <a:solidFill>
                <a:srgbClr val="F8F9F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4A709-A1DA-42BC-CC9E-BB3C77EDC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3200" dirty="0">
                <a:latin typeface="Poppins" panose="00000500000000000000" pitchFamily="2" charset="0"/>
                <a:cs typeface="Poppins" panose="00000500000000000000" pitchFamily="2" charset="0"/>
              </a:rPr>
              <a:t>Szerencsére minden elkészült</a:t>
            </a:r>
          </a:p>
          <a:p>
            <a:r>
              <a:rPr lang="hu-HU" sz="3200" dirty="0">
                <a:latin typeface="Poppins" panose="00000500000000000000" pitchFamily="2" charset="0"/>
                <a:cs typeface="Poppins" panose="00000500000000000000" pitchFamily="2" charset="0"/>
              </a:rPr>
              <a:t>Eltérések:</a:t>
            </a:r>
          </a:p>
          <a:p>
            <a:pPr lvl="1"/>
            <a:r>
              <a:rPr lang="hu-HU" sz="2800" dirty="0">
                <a:latin typeface="Poppins" panose="00000500000000000000" pitchFamily="2" charset="0"/>
                <a:cs typeface="Poppins" panose="00000500000000000000" pitchFamily="2" charset="0"/>
              </a:rPr>
              <a:t>Kérdés típus választás</a:t>
            </a:r>
          </a:p>
        </p:txBody>
      </p:sp>
    </p:spTree>
    <p:extLst>
      <p:ext uri="{BB962C8B-B14F-4D97-AF65-F5344CB8AC3E}">
        <p14:creationId xmlns:p14="http://schemas.microsoft.com/office/powerpoint/2010/main" val="2857078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5AABB-994F-3211-3330-A77ADB191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867" y="1825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8F9F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Extra </a:t>
            </a:r>
            <a:r>
              <a:rPr lang="en-US" b="1" dirty="0" err="1">
                <a:solidFill>
                  <a:srgbClr val="F8F9F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funkciók</a:t>
            </a:r>
            <a:endParaRPr lang="en-US" dirty="0">
              <a:solidFill>
                <a:srgbClr val="F8F9F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B31CC-AD15-1F23-EB4A-9F75AB936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Swagger </a:t>
            </a:r>
            <a:r>
              <a:rPr lang="en-US" sz="3200" dirty="0" err="1">
                <a:latin typeface="Poppins" panose="00000500000000000000" pitchFamily="2" charset="0"/>
                <a:cs typeface="Poppins" panose="00000500000000000000" pitchFamily="2" charset="0"/>
              </a:rPr>
              <a:t>dokumentáció</a:t>
            </a: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3200" dirty="0" err="1">
                <a:latin typeface="Poppins" panose="00000500000000000000" pitchFamily="2" charset="0"/>
                <a:cs typeface="Poppins" panose="00000500000000000000" pitchFamily="2" charset="0"/>
              </a:rPr>
              <a:t>minden</a:t>
            </a: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3200" dirty="0" err="1">
                <a:latin typeface="Poppins" panose="00000500000000000000" pitchFamily="2" charset="0"/>
                <a:cs typeface="Poppins" panose="00000500000000000000" pitchFamily="2" charset="0"/>
              </a:rPr>
              <a:t>endpointhoz</a:t>
            </a:r>
            <a:endParaRPr lang="en-US" sz="3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Seed </a:t>
            </a:r>
            <a:r>
              <a:rPr lang="en-US" sz="3200" dirty="0" err="1">
                <a:latin typeface="Poppins" panose="00000500000000000000" pitchFamily="2" charset="0"/>
                <a:cs typeface="Poppins" panose="00000500000000000000" pitchFamily="2" charset="0"/>
              </a:rPr>
              <a:t>adatok</a:t>
            </a: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3200" dirty="0" err="1">
                <a:latin typeface="Poppins" panose="00000500000000000000" pitchFamily="2" charset="0"/>
                <a:cs typeface="Poppins" panose="00000500000000000000" pitchFamily="2" charset="0"/>
              </a:rPr>
              <a:t>automatikus</a:t>
            </a: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3200" dirty="0" err="1">
                <a:latin typeface="Poppins" panose="00000500000000000000" pitchFamily="2" charset="0"/>
                <a:cs typeface="Poppins" panose="00000500000000000000" pitchFamily="2" charset="0"/>
              </a:rPr>
              <a:t>betöltése</a:t>
            </a: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3200" dirty="0" err="1">
                <a:latin typeface="Poppins" panose="00000500000000000000" pitchFamily="2" charset="0"/>
                <a:cs typeface="Poppins" panose="00000500000000000000" pitchFamily="2" charset="0"/>
              </a:rPr>
              <a:t>induláskor</a:t>
            </a:r>
            <a:endParaRPr lang="en-US" sz="3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3200" dirty="0" err="1">
                <a:latin typeface="Poppins" panose="00000500000000000000" pitchFamily="2" charset="0"/>
                <a:cs typeface="Poppins" panose="00000500000000000000" pitchFamily="2" charset="0"/>
              </a:rPr>
              <a:t>Részletes</a:t>
            </a: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 API </a:t>
            </a:r>
            <a:r>
              <a:rPr lang="en-US" sz="3200" dirty="0" err="1">
                <a:latin typeface="Poppins" panose="00000500000000000000" pitchFamily="2" charset="0"/>
                <a:cs typeface="Poppins" panose="00000500000000000000" pitchFamily="2" charset="0"/>
              </a:rPr>
              <a:t>specifikáció</a:t>
            </a: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3200" dirty="0" err="1">
                <a:latin typeface="Poppins" panose="00000500000000000000" pitchFamily="2" charset="0"/>
                <a:cs typeface="Poppins" panose="00000500000000000000" pitchFamily="2" charset="0"/>
              </a:rPr>
              <a:t>dokumentáció</a:t>
            </a:r>
            <a:endParaRPr lang="en-US" sz="3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110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AF8E6-679A-E509-4E4C-6A084F165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867" y="63658"/>
            <a:ext cx="5999025" cy="1325563"/>
          </a:xfrm>
        </p:spPr>
        <p:txBody>
          <a:bodyPr/>
          <a:lstStyle/>
          <a:p>
            <a:r>
              <a:rPr lang="en-US" b="1" dirty="0">
                <a:solidFill>
                  <a:srgbClr val="F8F9F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Élő </a:t>
            </a:r>
            <a:r>
              <a:rPr lang="en-US" b="1" dirty="0" err="1">
                <a:solidFill>
                  <a:srgbClr val="F8F9F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demó</a:t>
            </a:r>
            <a:endParaRPr lang="en-US" dirty="0">
              <a:solidFill>
                <a:srgbClr val="F8F9F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82C5A54-AD57-F256-C48C-569548FAD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966" y="1312837"/>
            <a:ext cx="9858068" cy="554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029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B6DBDF-3D26-1BB6-07D2-6AA08E903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D7D29-47A7-0804-0834-DED66BFC5E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84923"/>
            <a:ext cx="9144000" cy="2387600"/>
          </a:xfrm>
        </p:spPr>
        <p:txBody>
          <a:bodyPr/>
          <a:lstStyle/>
          <a:p>
            <a:r>
              <a:rPr lang="hu-HU" b="1" dirty="0">
                <a:solidFill>
                  <a:srgbClr val="DAE24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Oktató Bemutató</a:t>
            </a:r>
            <a:br>
              <a:rPr lang="en-US" b="1" dirty="0">
                <a:solidFill>
                  <a:srgbClr val="DAE243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n-US" b="1" dirty="0">
              <a:solidFill>
                <a:srgbClr val="DAE243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994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C0EBE-AA2D-C389-6B9A-6310AD4D2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CE3FB-6453-CD50-E125-46770A586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734" y="18255"/>
            <a:ext cx="10515600" cy="1325563"/>
          </a:xfrm>
        </p:spPr>
        <p:txBody>
          <a:bodyPr/>
          <a:lstStyle/>
          <a:p>
            <a:r>
              <a:rPr lang="hu-HU" b="1" dirty="0">
                <a:solidFill>
                  <a:srgbClr val="DAE24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Használt t</a:t>
            </a:r>
            <a:r>
              <a:rPr lang="en-US" b="1" dirty="0" err="1">
                <a:solidFill>
                  <a:srgbClr val="DAE24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echnológiák</a:t>
            </a:r>
            <a:endParaRPr lang="en-US" dirty="0">
              <a:solidFill>
                <a:srgbClr val="DAE243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05B2B-3696-BC97-6ECE-6081009E0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96413" cy="4351338"/>
          </a:xfrm>
        </p:spPr>
        <p:txBody>
          <a:bodyPr/>
          <a:lstStyle/>
          <a:p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Backend: ASP.NET, Entity Framework Core, Identity</a:t>
            </a:r>
          </a:p>
          <a:p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Frontend: Angular, Bootstrap</a:t>
            </a:r>
          </a:p>
          <a:p>
            <a:r>
              <a:rPr lang="en-US" sz="3200" dirty="0" err="1">
                <a:latin typeface="Poppins" panose="00000500000000000000" pitchFamily="2" charset="0"/>
                <a:cs typeface="Poppins" panose="00000500000000000000" pitchFamily="2" charset="0"/>
              </a:rPr>
              <a:t>Adatbázis</a:t>
            </a: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: In-memory (</a:t>
            </a:r>
            <a:r>
              <a:rPr lang="en-US" sz="3200" dirty="0" err="1">
                <a:latin typeface="Poppins" panose="00000500000000000000" pitchFamily="2" charset="0"/>
                <a:cs typeface="Poppins" panose="00000500000000000000" pitchFamily="2" charset="0"/>
              </a:rPr>
              <a:t>fejlesztés</a:t>
            </a: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), SQL Server (prod </a:t>
            </a:r>
            <a:r>
              <a:rPr lang="en-US" sz="3200" dirty="0" err="1">
                <a:latin typeface="Poppins" panose="00000500000000000000" pitchFamily="2" charset="0"/>
                <a:cs typeface="Poppins" panose="00000500000000000000" pitchFamily="2" charset="0"/>
              </a:rPr>
              <a:t>terv</a:t>
            </a: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)</a:t>
            </a:r>
          </a:p>
          <a:p>
            <a:r>
              <a:rPr lang="en-US" sz="3200" dirty="0" err="1">
                <a:latin typeface="Poppins" panose="00000500000000000000" pitchFamily="2" charset="0"/>
                <a:cs typeface="Poppins" panose="00000500000000000000" pitchFamily="2" charset="0"/>
              </a:rPr>
              <a:t>Verziókövetés</a:t>
            </a: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: Git + GitHub</a:t>
            </a:r>
          </a:p>
          <a:p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5246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EB3B7-D0A3-7D12-D846-FC00CD706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413" y="18255"/>
            <a:ext cx="10515600" cy="1325563"/>
          </a:xfrm>
        </p:spPr>
        <p:txBody>
          <a:bodyPr/>
          <a:lstStyle/>
          <a:p>
            <a:r>
              <a:rPr lang="en-US" b="1" dirty="0" err="1">
                <a:solidFill>
                  <a:srgbClr val="DAE24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Külső</a:t>
            </a:r>
            <a:r>
              <a:rPr lang="en-US" b="1" dirty="0">
                <a:solidFill>
                  <a:srgbClr val="DAE24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solidFill>
                  <a:srgbClr val="DAE24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könyvtárak</a:t>
            </a:r>
            <a:endParaRPr lang="en-US" dirty="0">
              <a:solidFill>
                <a:srgbClr val="DAE243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D8F5B-B52B-18A4-F4C4-0498FCA92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43827" cy="4764828"/>
          </a:xfrm>
        </p:spPr>
        <p:txBody>
          <a:bodyPr>
            <a:normAutofit fontScale="92500" lnSpcReduction="20000"/>
          </a:bodyPr>
          <a:lstStyle/>
          <a:p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Backend (NuGet):</a:t>
            </a:r>
          </a:p>
          <a:p>
            <a:pPr lvl="1"/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Microsoft.AspNetCore.Identity.EntityFrameworkCore</a:t>
            </a:r>
            <a:endParaRPr lang="hu-HU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/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Microsoft.EntityFrameworkCore.InMemory</a:t>
            </a:r>
            <a:endParaRPr lang="hu-HU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/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Microsoft.EntityFrameworkCore.SqlServer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lang="hu-HU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/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Microsoft.EntityFrameworkCore.Proxies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lang="hu-HU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/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Microsoft.AspNetCore.Authentication.JwtBearer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lang="hu-HU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/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System.Text.Json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lang="hu-HU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/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Swashbuckle.AspNetCore</a:t>
            </a:r>
            <a:b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Frontend (NPM):</a:t>
            </a:r>
          </a:p>
          <a:p>
            <a:pPr lvl="1"/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@angular/core, @angular/router, @angular/forms</a:t>
            </a:r>
          </a:p>
          <a:p>
            <a:pPr lvl="1"/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@angular/common/http</a:t>
            </a:r>
            <a:endParaRPr lang="hu-HU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/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bootstrap</a:t>
            </a:r>
          </a:p>
          <a:p>
            <a:pPr lvl="1"/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Rxjs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00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98918-8356-9A7A-39D0-9CBEBE180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094" y="18255"/>
            <a:ext cx="10515600" cy="1325563"/>
          </a:xfrm>
        </p:spPr>
        <p:txBody>
          <a:bodyPr/>
          <a:lstStyle/>
          <a:p>
            <a:r>
              <a:rPr lang="en-US" b="1" dirty="0" err="1">
                <a:solidFill>
                  <a:srgbClr val="DAE24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Fejlesztés</a:t>
            </a:r>
            <a:r>
              <a:rPr lang="en-US" b="1" dirty="0">
                <a:solidFill>
                  <a:srgbClr val="DAE24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solidFill>
                  <a:srgbClr val="DAE24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menete</a:t>
            </a:r>
            <a:endParaRPr lang="en-US" dirty="0">
              <a:solidFill>
                <a:srgbClr val="DAE243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A8BE6-E0EE-D7FF-AD56-E033238B9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1. </a:t>
            </a:r>
            <a:r>
              <a:rPr lang="en-US" sz="3200" dirty="0" err="1">
                <a:latin typeface="Poppins" panose="00000500000000000000" pitchFamily="2" charset="0"/>
                <a:cs typeface="Poppins" panose="00000500000000000000" pitchFamily="2" charset="0"/>
              </a:rPr>
              <a:t>Epicek</a:t>
            </a: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3200" dirty="0" err="1">
                <a:latin typeface="Poppins" panose="00000500000000000000" pitchFamily="2" charset="0"/>
                <a:cs typeface="Poppins" panose="00000500000000000000" pitchFamily="2" charset="0"/>
              </a:rPr>
              <a:t>és</a:t>
            </a: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 User Story-k </a:t>
            </a:r>
            <a:r>
              <a:rPr lang="en-US" sz="3200" dirty="0" err="1">
                <a:latin typeface="Poppins" panose="00000500000000000000" pitchFamily="2" charset="0"/>
                <a:cs typeface="Poppins" panose="00000500000000000000" pitchFamily="2" charset="0"/>
              </a:rPr>
              <a:t>definiálása</a:t>
            </a:r>
            <a:endParaRPr lang="en-US" sz="3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buNone/>
            </a:pP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2. </a:t>
            </a:r>
            <a:r>
              <a:rPr lang="hu-HU" sz="3200" dirty="0">
                <a:latin typeface="Poppins" panose="00000500000000000000" pitchFamily="2" charset="0"/>
                <a:cs typeface="Poppins" panose="00000500000000000000" pitchFamily="2" charset="0"/>
              </a:rPr>
              <a:t>Sprint 1 - Api + Design és landing page </a:t>
            </a:r>
          </a:p>
          <a:p>
            <a:pPr marL="0" indent="0">
              <a:buNone/>
            </a:pP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3. </a:t>
            </a:r>
            <a:r>
              <a:rPr lang="hu-HU" sz="3200" dirty="0">
                <a:latin typeface="Poppins" panose="00000500000000000000" pitchFamily="2" charset="0"/>
                <a:cs typeface="Poppins" panose="00000500000000000000" pitchFamily="2" charset="0"/>
              </a:rPr>
              <a:t>Sprint 2 - Backend + Frontend implementáció</a:t>
            </a:r>
            <a:endParaRPr lang="en-US" sz="3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buNone/>
            </a:pP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4. </a:t>
            </a:r>
            <a:r>
              <a:rPr lang="hu-HU" sz="3200" dirty="0">
                <a:latin typeface="Poppins" panose="00000500000000000000" pitchFamily="2" charset="0"/>
                <a:cs typeface="Poppins" panose="00000500000000000000" pitchFamily="2" charset="0"/>
              </a:rPr>
              <a:t>Sprint 3 – Hibák kisímítása + Hosting</a:t>
            </a:r>
            <a:endParaRPr lang="en-US" sz="3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995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A2511-880F-3032-557B-661B2C74B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66407-7CB9-FAC8-7666-649C0D43E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640" y="0"/>
            <a:ext cx="10515600" cy="1325563"/>
          </a:xfrm>
        </p:spPr>
        <p:txBody>
          <a:bodyPr/>
          <a:lstStyle/>
          <a:p>
            <a:r>
              <a:rPr lang="en-US" b="1" dirty="0" err="1">
                <a:solidFill>
                  <a:srgbClr val="DAE24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Verziókövetési</a:t>
            </a:r>
            <a:r>
              <a:rPr lang="en-US" b="1" dirty="0">
                <a:solidFill>
                  <a:srgbClr val="DAE24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 err="1">
                <a:solidFill>
                  <a:srgbClr val="DAE24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stratégia</a:t>
            </a:r>
            <a:endParaRPr lang="en-US" dirty="0">
              <a:solidFill>
                <a:srgbClr val="DAE243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55CD6-CB36-ABE9-ADD2-E5EB09448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238654" cy="4351338"/>
          </a:xfrm>
        </p:spPr>
        <p:txBody>
          <a:bodyPr/>
          <a:lstStyle/>
          <a:p>
            <a:r>
              <a:rPr lang="en-US" sz="3200" dirty="0" err="1">
                <a:latin typeface="Poppins" panose="00000500000000000000" pitchFamily="2" charset="0"/>
                <a:cs typeface="Poppins" panose="00000500000000000000" pitchFamily="2" charset="0"/>
              </a:rPr>
              <a:t>GitFlow</a:t>
            </a: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: main, develop, feature/</a:t>
            </a:r>
            <a:r>
              <a:rPr lang="en-US" sz="3200" i="1" dirty="0">
                <a:latin typeface="Poppins" panose="00000500000000000000" pitchFamily="2" charset="0"/>
                <a:cs typeface="Poppins" panose="00000500000000000000" pitchFamily="2" charset="0"/>
              </a:rPr>
              <a:t>*, bugfix/*</a:t>
            </a:r>
            <a:endParaRPr lang="en-US" sz="3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PR </a:t>
            </a:r>
            <a:r>
              <a:rPr lang="en-US" sz="3200" dirty="0" err="1">
                <a:latin typeface="Poppins" panose="00000500000000000000" pitchFamily="2" charset="0"/>
                <a:cs typeface="Poppins" panose="00000500000000000000" pitchFamily="2" charset="0"/>
              </a:rPr>
              <a:t>szabály</a:t>
            </a: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: minimum 3 reviewer (Architect + PO + 1 dev)</a:t>
            </a:r>
          </a:p>
          <a:p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Sprint </a:t>
            </a:r>
            <a:r>
              <a:rPr lang="en-US" sz="3200" dirty="0" err="1">
                <a:latin typeface="Poppins" panose="00000500000000000000" pitchFamily="2" charset="0"/>
                <a:cs typeface="Poppins" panose="00000500000000000000" pitchFamily="2" charset="0"/>
              </a:rPr>
              <a:t>végén</a:t>
            </a: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: develop → main merge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3103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1666E-5281-1FE3-770A-1A63678E4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21484-C3AC-BC23-5807-5E0F5657E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1053" y="32448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DAE24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Csapatmunka</a:t>
            </a:r>
            <a:br>
              <a:rPr lang="en-US" dirty="0">
                <a:solidFill>
                  <a:srgbClr val="DAE243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n-US" dirty="0">
              <a:solidFill>
                <a:srgbClr val="DAE243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E5C79-8488-CB3E-C192-F88434573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Szakmai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oldal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</a:p>
          <a:p>
            <a:pPr lvl="1"/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FE–BE </a:t>
            </a:r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párok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az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API </a:t>
            </a:r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kontraktusoknál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/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Architect review </a:t>
            </a:r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minden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PR-</a:t>
            </a:r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nél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/>
            <a:r>
              <a:rPr lang="hu-HU" dirty="0">
                <a:latin typeface="Poppins" panose="00000500000000000000" pitchFamily="2" charset="0"/>
                <a:cs typeface="Poppins" panose="00000500000000000000" pitchFamily="2" charset="0"/>
              </a:rPr>
              <a:t>D</a:t>
            </a:r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okumentáció-vezérelt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fejlesztés</a:t>
            </a:r>
            <a:b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Emberi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oldal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</a:p>
          <a:p>
            <a:pPr lvl="1"/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Heti 2 meeting (</a:t>
            </a:r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vasárnap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+ </a:t>
            </a:r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szerda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)</a:t>
            </a:r>
          </a:p>
          <a:p>
            <a:pPr lvl="1"/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Mindenki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aktívan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részt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vett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/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Nyitott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kommunikáció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Teams-</a:t>
            </a:r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en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111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6986B-E924-EEFE-F873-422C721AD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0A2A2-7817-2DD1-6521-D6F032CA5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413" y="18255"/>
            <a:ext cx="10515600" cy="1325563"/>
          </a:xfrm>
        </p:spPr>
        <p:txBody>
          <a:bodyPr/>
          <a:lstStyle/>
          <a:p>
            <a:r>
              <a:rPr lang="en-US" b="1" dirty="0" err="1">
                <a:solidFill>
                  <a:srgbClr val="DAE24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Munkamegosztás</a:t>
            </a:r>
            <a:endParaRPr lang="en-US" dirty="0">
              <a:solidFill>
                <a:srgbClr val="DAE243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A136F-D13D-E5D2-B9C3-A40E69955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Szczuka Bendegúz </a:t>
            </a:r>
            <a:r>
              <a:rPr lang="hu-HU" dirty="0">
                <a:latin typeface="Poppins" panose="00000500000000000000" pitchFamily="2" charset="0"/>
                <a:cs typeface="Poppins" panose="00000500000000000000" pitchFamily="2" charset="0"/>
              </a:rPr>
              <a:t>	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| Architect </a:t>
            </a:r>
            <a:r>
              <a:rPr lang="hu-HU" dirty="0">
                <a:latin typeface="Poppins" panose="00000500000000000000" pitchFamily="2" charset="0"/>
                <a:cs typeface="Poppins" panose="00000500000000000000" pitchFamily="2" charset="0"/>
              </a:rPr>
              <a:t>       	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| ~</a:t>
            </a:r>
            <a:r>
              <a:rPr lang="hu-HU" dirty="0">
                <a:latin typeface="Poppins" panose="00000500000000000000" pitchFamily="2" charset="0"/>
                <a:cs typeface="Poppins" panose="00000500000000000000" pitchFamily="2" charset="0"/>
              </a:rPr>
              <a:t> 35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% </a:t>
            </a:r>
          </a:p>
          <a:p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Tolnai Olivér </a:t>
            </a:r>
            <a:r>
              <a:rPr lang="hu-HU" dirty="0">
                <a:latin typeface="Poppins" panose="00000500000000000000" pitchFamily="2" charset="0"/>
                <a:cs typeface="Poppins" panose="00000500000000000000" pitchFamily="2" charset="0"/>
              </a:rPr>
              <a:t>           	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| Frontend </a:t>
            </a:r>
            <a:r>
              <a:rPr lang="hu-HU" dirty="0">
                <a:latin typeface="Poppins" panose="00000500000000000000" pitchFamily="2" charset="0"/>
                <a:cs typeface="Poppins" panose="00000500000000000000" pitchFamily="2" charset="0"/>
              </a:rPr>
              <a:t>       	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| ~</a:t>
            </a:r>
            <a:r>
              <a:rPr lang="hu-HU" dirty="0">
                <a:latin typeface="Poppins" panose="00000500000000000000" pitchFamily="2" charset="0"/>
                <a:cs typeface="Poppins" panose="00000500000000000000" pitchFamily="2" charset="0"/>
              </a:rPr>
              <a:t> 11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% </a:t>
            </a:r>
          </a:p>
          <a:p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Prohászka Ádám </a:t>
            </a:r>
            <a:r>
              <a:rPr lang="hu-HU" dirty="0">
                <a:latin typeface="Poppins" panose="00000500000000000000" pitchFamily="2" charset="0"/>
                <a:cs typeface="Poppins" panose="00000500000000000000" pitchFamily="2" charset="0"/>
              </a:rPr>
              <a:t>  	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| Frontend </a:t>
            </a:r>
            <a:r>
              <a:rPr lang="hu-HU" dirty="0">
                <a:latin typeface="Poppins" panose="00000500000000000000" pitchFamily="2" charset="0"/>
                <a:cs typeface="Poppins" panose="00000500000000000000" pitchFamily="2" charset="0"/>
              </a:rPr>
              <a:t>       	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| ~</a:t>
            </a:r>
            <a:r>
              <a:rPr lang="hu-HU" dirty="0">
                <a:latin typeface="Poppins" panose="00000500000000000000" pitchFamily="2" charset="0"/>
                <a:cs typeface="Poppins" panose="00000500000000000000" pitchFamily="2" charset="0"/>
              </a:rPr>
              <a:t> 11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% </a:t>
            </a:r>
          </a:p>
          <a:p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Kóbori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Bence </a:t>
            </a:r>
            <a:r>
              <a:rPr lang="hu-HU" dirty="0">
                <a:latin typeface="Poppins" panose="00000500000000000000" pitchFamily="2" charset="0"/>
                <a:cs typeface="Poppins" panose="00000500000000000000" pitchFamily="2" charset="0"/>
              </a:rPr>
              <a:t>         	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| Frontend </a:t>
            </a:r>
            <a:r>
              <a:rPr lang="hu-HU" dirty="0">
                <a:latin typeface="Poppins" panose="00000500000000000000" pitchFamily="2" charset="0"/>
                <a:cs typeface="Poppins" panose="00000500000000000000" pitchFamily="2" charset="0"/>
              </a:rPr>
              <a:t>       	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| ~</a:t>
            </a:r>
            <a:r>
              <a:rPr lang="hu-HU" dirty="0">
                <a:latin typeface="Poppins" panose="00000500000000000000" pitchFamily="2" charset="0"/>
                <a:cs typeface="Poppins" panose="00000500000000000000" pitchFamily="2" charset="0"/>
              </a:rPr>
              <a:t> 11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% </a:t>
            </a:r>
          </a:p>
          <a:p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Homonnai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Mihály </a:t>
            </a:r>
            <a:r>
              <a:rPr lang="hu-HU" dirty="0">
                <a:latin typeface="Poppins" panose="00000500000000000000" pitchFamily="2" charset="0"/>
                <a:cs typeface="Poppins" panose="00000500000000000000" pitchFamily="2" charset="0"/>
              </a:rPr>
              <a:t> 	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| Backend </a:t>
            </a:r>
            <a:r>
              <a:rPr lang="hu-HU" dirty="0">
                <a:latin typeface="Poppins" panose="00000500000000000000" pitchFamily="2" charset="0"/>
                <a:cs typeface="Poppins" panose="00000500000000000000" pitchFamily="2" charset="0"/>
              </a:rPr>
              <a:t>        	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| ~</a:t>
            </a:r>
            <a:r>
              <a:rPr lang="hu-HU" dirty="0">
                <a:latin typeface="Poppins" panose="00000500000000000000" pitchFamily="2" charset="0"/>
                <a:cs typeface="Poppins" panose="00000500000000000000" pitchFamily="2" charset="0"/>
              </a:rPr>
              <a:t> 11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% </a:t>
            </a:r>
          </a:p>
          <a:p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Zsebeházi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Máté </a:t>
            </a:r>
            <a:r>
              <a:rPr lang="hu-HU" dirty="0">
                <a:latin typeface="Poppins" panose="00000500000000000000" pitchFamily="2" charset="0"/>
                <a:cs typeface="Poppins" panose="00000500000000000000" pitchFamily="2" charset="0"/>
              </a:rPr>
              <a:t>    	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| Backend </a:t>
            </a:r>
            <a:r>
              <a:rPr lang="hu-HU" dirty="0">
                <a:latin typeface="Poppins" panose="00000500000000000000" pitchFamily="2" charset="0"/>
                <a:cs typeface="Poppins" panose="00000500000000000000" pitchFamily="2" charset="0"/>
              </a:rPr>
              <a:t>        	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| ~</a:t>
            </a:r>
            <a:r>
              <a:rPr lang="hu-HU" dirty="0">
                <a:latin typeface="Poppins" panose="00000500000000000000" pitchFamily="2" charset="0"/>
                <a:cs typeface="Poppins" panose="00000500000000000000" pitchFamily="2" charset="0"/>
              </a:rPr>
              <a:t> 11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% </a:t>
            </a:r>
            <a:endParaRPr lang="hu-HU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Tisza Tamás </a:t>
            </a:r>
            <a:r>
              <a:rPr lang="hu-HU" dirty="0">
                <a:latin typeface="Poppins" panose="00000500000000000000" pitchFamily="2" charset="0"/>
                <a:cs typeface="Poppins" panose="00000500000000000000" pitchFamily="2" charset="0"/>
              </a:rPr>
              <a:t>	        	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| Manager/PO</a:t>
            </a:r>
            <a:r>
              <a:rPr lang="hu-HU" dirty="0">
                <a:latin typeface="Poppins" panose="00000500000000000000" pitchFamily="2" charset="0"/>
                <a:cs typeface="Poppins" panose="00000500000000000000" pitchFamily="2" charset="0"/>
              </a:rPr>
              <a:t>	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| ~</a:t>
            </a:r>
            <a:r>
              <a:rPr lang="hu-HU" dirty="0">
                <a:latin typeface="Poppins" panose="00000500000000000000" pitchFamily="2" charset="0"/>
                <a:cs typeface="Poppins" panose="00000500000000000000" pitchFamily="2" charset="0"/>
              </a:rPr>
              <a:t> 10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% </a:t>
            </a:r>
          </a:p>
          <a:p>
            <a:endParaRPr lang="en-US" dirty="0"/>
          </a:p>
          <a:p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0824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5AE48-9047-B34F-7241-8421CA0E9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40792-450E-CE1D-871C-5521AF739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68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 err="1">
                <a:solidFill>
                  <a:srgbClr val="DAE24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Probléma</a:t>
            </a:r>
            <a:r>
              <a:rPr lang="en-US" sz="4000" b="1" dirty="0">
                <a:solidFill>
                  <a:srgbClr val="DAE24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4000" b="1" dirty="0" err="1">
                <a:solidFill>
                  <a:srgbClr val="DAE24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jegyzőkönyv</a:t>
            </a:r>
            <a:r>
              <a:rPr lang="hu-HU" sz="4000" b="1" dirty="0">
                <a:solidFill>
                  <a:srgbClr val="DAE24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és tanulságok</a:t>
            </a:r>
            <a:endParaRPr lang="en-US" sz="4000" dirty="0">
              <a:solidFill>
                <a:srgbClr val="DAE243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9E5F7-98A4-FACD-D605-CDFB9F585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Projekt teljesen új – Első szakasz issue tervezés</a:t>
            </a:r>
          </a:p>
          <a:p>
            <a:r>
              <a:rPr lang="hu-HU" dirty="0"/>
              <a:t>Tickett összeakadás – Egy emberen legynek a hasonló ticketek</a:t>
            </a:r>
          </a:p>
          <a:p>
            <a:r>
              <a:rPr lang="hu-HU" dirty="0"/>
              <a:t>Ráépülő issuek elakadnak – Proiritizálás</a:t>
            </a:r>
          </a:p>
          <a:p>
            <a:r>
              <a:rPr lang="hu-HU" dirty="0"/>
              <a:t>Master-re nem mentek fel a dolgok az elején – Zárás előtt feltétel</a:t>
            </a:r>
          </a:p>
          <a:p>
            <a:r>
              <a:rPr lang="hu-HU" dirty="0"/>
              <a:t>Sok extra dolog az apikban – Törekedjünk az egyszerűségre</a:t>
            </a:r>
          </a:p>
          <a:p>
            <a:r>
              <a:rPr lang="hu-HU" dirty="0"/>
              <a:t>Burnup látszólag rosszul áll – Issuek legyenek rendesen lezárva</a:t>
            </a:r>
          </a:p>
          <a:p>
            <a:endParaRPr lang="hu-H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55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1E2782-F0F9-5F4F-61DC-F450E2723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B6AE-EEAC-300E-63B9-CE28B8953E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b="1" dirty="0">
                <a:solidFill>
                  <a:srgbClr val="DAE24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Köszönjük a figyelmet!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048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438</Words>
  <Application>Microsoft Office PowerPoint</Application>
  <PresentationFormat>Widescreen</PresentationFormat>
  <Paragraphs>79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Poppins</vt:lpstr>
      <vt:lpstr>Office Theme</vt:lpstr>
      <vt:lpstr>PowerPoint Presentation</vt:lpstr>
      <vt:lpstr>Mi a CodeLingo?</vt:lpstr>
      <vt:lpstr>Elkészült funkciók</vt:lpstr>
      <vt:lpstr>Nem készült el és eltérések</vt:lpstr>
      <vt:lpstr>Extra funkciók</vt:lpstr>
      <vt:lpstr>Élő demó</vt:lpstr>
      <vt:lpstr>Oktató Bemutató </vt:lpstr>
      <vt:lpstr>Használt technológiák</vt:lpstr>
      <vt:lpstr>Külső könyvtárak</vt:lpstr>
      <vt:lpstr>Fejlesztés menete</vt:lpstr>
      <vt:lpstr>Verziókövetési stratégia</vt:lpstr>
      <vt:lpstr>Csapatmunka </vt:lpstr>
      <vt:lpstr>Munkamegosztás</vt:lpstr>
      <vt:lpstr>Probléma jegyzőkönyv és tanulságok</vt:lpstr>
      <vt:lpstr>Köszönjük a figyelmet!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Tisza Tamás</dc:creator>
  <cp:lastModifiedBy>Tisza Tamás</cp:lastModifiedBy>
  <cp:revision>8</cp:revision>
  <dcterms:created xsi:type="dcterms:W3CDTF">2025-12-09T16:12:27Z</dcterms:created>
  <dcterms:modified xsi:type="dcterms:W3CDTF">2025-12-09T23:39:30Z</dcterms:modified>
</cp:coreProperties>
</file>